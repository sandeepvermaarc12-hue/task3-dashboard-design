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F2994A"/>
            </a:solidFill>
            <a:ln w="31750" cap="flat">
              <a:solidFill>
                <a:srgbClr val="F29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Sep-13</c:v>
                  </c:pt>
                  <c:pt idx="1">
                    <c:v>Oct-13</c:v>
                  </c:pt>
                  <c:pt idx="2">
                    <c:v>Nov-13</c:v>
                  </c:pt>
                  <c:pt idx="3">
                    <c:v>Dec-13</c:v>
                  </c:pt>
                  <c:pt idx="4">
                    <c:v>Jan-14</c:v>
                  </c:pt>
                  <c:pt idx="5">
                    <c:v>Feb-14</c:v>
                  </c:pt>
                  <c:pt idx="6">
                    <c:v>Mar-14</c:v>
                  </c:pt>
                  <c:pt idx="7">
                    <c:v>Apr-14</c:v>
                  </c:pt>
                  <c:pt idx="8">
                    <c:v>May-14</c:v>
                  </c:pt>
                  <c:pt idx="9">
                    <c:v>Jun-14</c:v>
                  </c:pt>
                  <c:pt idx="10">
                    <c:v>Jul-14</c:v>
                  </c:pt>
                  <c:pt idx="11">
                    <c:v>Aug-14</c:v>
                  </c:pt>
                  <c:pt idx="12">
                    <c:v>Sep-14</c:v>
                  </c:pt>
                  <c:pt idx="13">
                    <c:v>Oct-14</c:v>
                  </c:pt>
                  <c:pt idx="14">
                    <c:v>Nov-14</c:v>
                  </c:pt>
                  <c:pt idx="15">
                    <c:v>Dec-14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4.48</c:v>
                </c:pt>
                <c:pt idx="1">
                  <c:v>9.3</c:v>
                </c:pt>
                <c:pt idx="2">
                  <c:v>7.27</c:v>
                </c:pt>
                <c:pt idx="3">
                  <c:v>5.37</c:v>
                </c:pt>
                <c:pt idx="4">
                  <c:v>6.61</c:v>
                </c:pt>
                <c:pt idx="5">
                  <c:v>7.3</c:v>
                </c:pt>
                <c:pt idx="6">
                  <c:v>5.59</c:v>
                </c:pt>
                <c:pt idx="7">
                  <c:v>6.96</c:v>
                </c:pt>
                <c:pt idx="8">
                  <c:v>6.21</c:v>
                </c:pt>
                <c:pt idx="9">
                  <c:v>9.52</c:v>
                </c:pt>
                <c:pt idx="10">
                  <c:v>8.1</c:v>
                </c:pt>
                <c:pt idx="11">
                  <c:v>5.86</c:v>
                </c:pt>
                <c:pt idx="12">
                  <c:v>6.4</c:v>
                </c:pt>
                <c:pt idx="13">
                  <c:v>12.38</c:v>
                </c:pt>
                <c:pt idx="14">
                  <c:v>5.38</c:v>
                </c:pt>
                <c:pt idx="15">
                  <c:v>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Paseo</c:v>
                  </c:pt>
                  <c:pt idx="1">
                    <c:v>VTT</c:v>
                  </c:pt>
                  <c:pt idx="2">
                    <c:v>Velo</c:v>
                  </c:pt>
                  <c:pt idx="3">
                    <c:v>Amarilla</c:v>
                  </c:pt>
                  <c:pt idx="4">
                    <c:v>Montana</c:v>
                  </c:pt>
                  <c:pt idx="5">
                    <c:v>Carretera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33.01</c:v>
                </c:pt>
                <c:pt idx="1">
                  <c:v>20.51</c:v>
                </c:pt>
                <c:pt idx="2">
                  <c:v>18.25</c:v>
                </c:pt>
                <c:pt idx="3">
                  <c:v>17.75</c:v>
                </c:pt>
                <c:pt idx="4">
                  <c:v>15.39</c:v>
                </c:pt>
                <c:pt idx="5">
                  <c:v>13.82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France</c:v>
                  </c:pt>
                  <c:pt idx="1">
                    <c:v>Germany</c:v>
                  </c:pt>
                  <c:pt idx="2">
                    <c:v>Canada</c:v>
                  </c:pt>
                  <c:pt idx="3">
                    <c:v>United States</c:v>
                  </c:pt>
                  <c:pt idx="4">
                    <c:v>Mexico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3.78</c:v>
                </c:pt>
                <c:pt idx="1">
                  <c:v>3.68</c:v>
                </c:pt>
                <c:pt idx="2">
                  <c:v>3.53</c:v>
                </c:pt>
                <c:pt idx="3">
                  <c:v>3</c:v>
                </c:pt>
                <c:pt idx="4">
                  <c:v>2.91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— Power BI Project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Kumar Verma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— DataX Labs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Power BI dashboard that helps business stakeholders track sales, profitability, and growth at a glance — with the ability to filter and drill down by country, segment, and product.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data modeling, DAX measures, visuals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Kaggle-sourced Financial Sample 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Financial Sample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records covering Sep 2013 - Dec 2014, spanning 5 countries, 4 customer segments, and 6 products.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Country, Product, Discount Band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Sale Price, Gross Sales, Discounts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COGS,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Month, Year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KPIs &amp; Summary Cards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metrics give stakeholders an instant read on business health.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118.73M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057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16.89M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57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0" y="2057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KPIs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&amp; Profit — the two core revenue health indicators for any business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 — shows growth efficiency, not just top-line size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 — operational volume metric for demand tracking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&amp; Comparative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Date (in millions)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 (M)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548640" y="397764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21792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Country (M)</a:t>
            </a:r>
            <a:endParaRPr lang="en-US" sz="140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6217920" y="397764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Interactivity: Slicers &amp; Filters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 slice every visual live, without needing a new report.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17830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 cards &amp; charts to a single market: Canada, France, Germany, Mexico, or United States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246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Government, Enterprise, Midmarket, Channel Partners, and Small Business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709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47091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performance for one product line: Paseo, VTT, Velo, Amarilla, Montana, Carretera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 is the top-selling product at 33.01M in sales — nearly 60% more than the next closest product (VTT at 20.51M).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5603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leads all countries in profit (3.78M), narrowly ahead of Germany (3.68M) and Canada (3.53M).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7947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volatile month-to-month, with clear peaks in October and December 2014 (over 12M each) and a dip around March 2014.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14.23% profit margin suggests pricing and discount strategy are broadly under control, with room to push toward 15-16% by reviewing lower-margin products.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data modeling, DAX, visuals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data cleaning &amp; type fixes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source of the Financial Sample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DAX measures for KPIs (SUM, DIVIDE)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dashboards that tell a clear story: totals to trend to detail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slicers to make a dashboard genuinely interactive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dashboard visually consistent with one color theme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Single-page dashboard — navigation menu not required for this scope.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3 - Dashboard Design Summary</dc:title>
  <dc:subject>PptxGenJS Presentation</dc:subject>
  <dc:creator>Sandeep Kumar Verma</dc:creator>
  <cp:lastModifiedBy>Sandeep Kumar Verma</cp:lastModifiedBy>
  <cp:revision>1</cp:revision>
  <dcterms:created xsi:type="dcterms:W3CDTF">2026-07-02T11:33:36Z</dcterms:created>
  <dcterms:modified xsi:type="dcterms:W3CDTF">2026-07-02T11:33:36Z</dcterms:modified>
</cp:coreProperties>
</file>